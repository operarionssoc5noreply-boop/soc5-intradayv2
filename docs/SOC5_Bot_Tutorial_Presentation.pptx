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Master" Target="slideMasters/slideMaster1.xml"/>
<Relationship Id="rId17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</p:spTree>
  </p:cSld>
  <p:sldLayoutIdLst>
    <p:sldLayoutId id="2147483649" r:id="rId1"/>
  </p:sldLayoutIdLst>
  <p:txStyles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Creating a SOC5 SeaTalk Bot + Bot Server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20000" y="1060000"/>
            <a:ext cx="11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500" dirty="0">
                <a:solidFill>
                  <a:srgbClr val="57606A"/>
                </a:solidFill>
              </a:rPr>
              <a:t>Tutorial deck based on this repository: Apps Script bots, Azure converter service, and optional Render callback proxy.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Goal: create a bot that reads Google Sheets, renders a report image, and sends a SeaTalk card.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Main example: SOC5 Intraday, with OTP, MDT, Workstation, and Control Tower as reusable variants.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Keep secrets in Apps Script properties, Azure/Render environment variables, or ignored local files.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Project Architecture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20000" y="1060000"/>
            <a:ext cx="11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500" dirty="0">
                <a:solidFill>
                  <a:srgbClr val="57606A"/>
                </a:solidFill>
              </a:rPr>
              <a:t>The bot logic and server logic are intentionally separated.</a:t>
            </a:r>
          </a:p>
        </p:txBody>
      </p:sp>
      <p:sp>
        <p:nvSpPr>
          <p:cNvPr id="10" name="Box 10"/>
          <p:cNvSpPr/>
          <p:nvPr/>
        </p:nvSpPr>
        <p:spPr>
          <a:xfrm>
            <a:off x="650000" y="1650000"/>
            <a:ext cx="2250000" cy="90000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D0D7DE"/>
            </a:solidFill>
          </a:ln>
        </p:spPr>
        <p:txBody>
          <a:bodyPr wrap="square" lIns="160000" tIns="120000" rIns="160000" bIns="120000"/>
          <a:lstStyle/>
          <a:p>
            <a:pPr marL="0" indent="0"/>
            <a:r>
              <a:rPr lang="en-US" sz="1900" dirty="0">
                <a:b/>
                <a:solidFill>
                  <a:srgbClr val="1B1F24"/>
                </a:solidFill>
              </a:rPr>
              <a:t>Google Sheet</a:t>
            </a:r>
          </a:p>
          <a:p>
            <a:pPr marL="0" indent="0"/>
            <a:r>
              <a:rPr lang="en-US" sz="1350" dirty="0">
                <a:solidFill>
                  <a:srgbClr val="1B1F24"/>
                </a:solidFill>
              </a:rPr>
              <a:t>config, ranges, group IDs</a:t>
            </a:r>
          </a:p>
        </p:txBody>
      </p:sp>
      <p:sp>
        <p:nvSpPr>
          <p:cNvPr id="11" name="Box 11"/>
          <p:cNvSpPr/>
          <p:nvPr/>
        </p:nvSpPr>
        <p:spPr>
          <a:xfrm>
            <a:off x="3200000" y="1650000"/>
            <a:ext cx="2250000" cy="900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0D7DE"/>
            </a:solidFill>
          </a:ln>
        </p:spPr>
        <p:txBody>
          <a:bodyPr wrap="square" lIns="160000" tIns="120000" rIns="160000" bIns="120000"/>
          <a:lstStyle/>
          <a:p>
            <a:pPr marL="0" indent="0"/>
            <a:r>
              <a:rPr lang="en-US" sz="1900" dirty="0">
                <a:b/>
                <a:solidFill>
                  <a:srgbClr val="1B1F24"/>
                </a:solidFill>
              </a:rPr>
              <a:t>Apps Script Bot</a:t>
            </a:r>
          </a:p>
          <a:p>
            <a:pPr marL="0" indent="0"/>
            <a:r>
              <a:rPr lang="en-US" sz="1350" dirty="0">
                <a:solidFill>
                  <a:srgbClr val="1B1F24"/>
                </a:solidFill>
              </a:rPr>
              <a:t>exports PDF, sends card</a:t>
            </a:r>
          </a:p>
        </p:txBody>
      </p:sp>
      <p:sp>
        <p:nvSpPr>
          <p:cNvPr id="12" name="Box 12"/>
          <p:cNvSpPr/>
          <p:nvPr/>
        </p:nvSpPr>
        <p:spPr>
          <a:xfrm>
            <a:off x="5750000" y="1650000"/>
            <a:ext cx="2250000" cy="9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D0D7DE"/>
            </a:solidFill>
          </a:ln>
        </p:spPr>
        <p:txBody>
          <a:bodyPr wrap="square" lIns="160000" tIns="120000" rIns="160000" bIns="120000"/>
          <a:lstStyle/>
          <a:p>
            <a:pPr marL="0" indent="0"/>
            <a:r>
              <a:rPr lang="en-US" sz="1900" dirty="0">
                <a:b/>
                <a:solidFill>
                  <a:srgbClr val="1B1F24"/>
                </a:solidFill>
              </a:rPr>
              <a:t>Azure Converter</a:t>
            </a:r>
          </a:p>
          <a:p>
            <a:pPr marL="0" indent="0"/>
            <a:r>
              <a:rPr lang="en-US" sz="1350" dirty="0">
                <a:solidFill>
                  <a:srgbClr val="1B1F24"/>
                </a:solidFill>
              </a:rPr>
              <a:t>PDF -&gt; PNG endpoint</a:t>
            </a:r>
          </a:p>
        </p:txBody>
      </p:sp>
      <p:sp>
        <p:nvSpPr>
          <p:cNvPr id="13" name="Box 13"/>
          <p:cNvSpPr/>
          <p:nvPr/>
        </p:nvSpPr>
        <p:spPr>
          <a:xfrm>
            <a:off x="8300000" y="1650000"/>
            <a:ext cx="2250000" cy="9000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D0D7DE"/>
            </a:solidFill>
          </a:ln>
        </p:spPr>
        <p:txBody>
          <a:bodyPr wrap="square" lIns="160000" tIns="120000" rIns="160000" bIns="120000"/>
          <a:lstStyle/>
          <a:p>
            <a:pPr marL="0" indent="0"/>
            <a:r>
              <a:rPr lang="en-US" sz="1900" dirty="0">
                <a:b/>
                <a:solidFill>
                  <a:srgbClr val="1B1F24"/>
                </a:solidFill>
              </a:rPr>
              <a:t>SeaTalk API</a:t>
            </a:r>
          </a:p>
          <a:p>
            <a:pPr marL="0" indent="0"/>
            <a:r>
              <a:rPr lang="en-US" sz="1350" dirty="0">
                <a:solidFill>
                  <a:srgbClr val="1B1F24"/>
                </a:solidFill>
              </a:rPr>
              <a:t>interactive message</a:t>
            </a:r>
          </a:p>
        </p:txBody>
      </p:sp>
      <p:sp>
        <p:nvSpPr>
          <p:cNvPr id="14" name="Box 14"/>
          <p:cNvSpPr/>
          <p:nvPr/>
        </p:nvSpPr>
        <p:spPr>
          <a:xfrm>
            <a:off x="10850000" y="1650000"/>
            <a:ext cx="1800000" cy="900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txBody>
          <a:bodyPr wrap="square" lIns="160000" tIns="120000" rIns="160000" bIns="120000"/>
          <a:lstStyle/>
          <a:p>
            <a:pPr marL="0" indent="0"/>
            <a:r>
              <a:rPr lang="en-US" sz="1900" dirty="0">
                <a:b/>
                <a:solidFill>
                  <a:srgbClr val="1B1F24"/>
                </a:solidFill>
              </a:rPr>
              <a:t>Groups</a:t>
            </a:r>
          </a:p>
          <a:p>
            <a:pPr marL="0" indent="0"/>
            <a:r>
              <a:rPr lang="en-US" sz="1350" dirty="0">
                <a:solidFill>
                  <a:srgbClr val="1B1F24"/>
                </a:solidFill>
              </a:rPr>
              <a:t>receive reports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9300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2600" dirty="0">
                <a:b/>
                <a:solidFill>
                  <a:srgbClr val="57606A"/>
                </a:solidFill>
              </a:rPr>
              <a:t>-&gt;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4800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2600" dirty="0">
                <a:b/>
                <a:solidFill>
                  <a:srgbClr val="57606A"/>
                </a:solidFill>
              </a:rPr>
              <a:t>-&gt;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0300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2600" dirty="0">
                <a:b/>
                <a:solidFill>
                  <a:srgbClr val="57606A"/>
                </a:solidFill>
              </a:rPr>
              <a:t>-&gt;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5800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2600" dirty="0">
                <a:b/>
                <a:solidFill>
                  <a:srgbClr val="57606A"/>
                </a:solidFill>
              </a:rPr>
              <a:t>-&gt;</a:t>
            </a:r>
          </a:p>
        </p:txBody>
      </p:sp>
      <p:sp>
        <p:nvSpPr>
          <p:cNvPr id="19" name="Box 19"/>
          <p:cNvSpPr/>
          <p:nvPr/>
        </p:nvSpPr>
        <p:spPr>
          <a:xfrm>
            <a:off x="4200000" y="3350000"/>
            <a:ext cx="4700000" cy="9000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0D7DE"/>
            </a:solidFill>
          </a:ln>
        </p:spPr>
        <p:txBody>
          <a:bodyPr wrap="square" lIns="160000" tIns="120000" rIns="160000" bIns="120000"/>
          <a:lstStyle/>
          <a:p>
            <a:pPr marL="0" indent="0"/>
            <a:r>
              <a:rPr lang="en-US" sz="1900" dirty="0">
                <a:b/>
                <a:solidFill>
                  <a:srgbClr val="1B1F24"/>
                </a:solidFill>
              </a:rPr>
              <a:t>Optional Render Callback Proxy</a:t>
            </a:r>
          </a:p>
          <a:p>
            <a:pPr marL="0" indent="0"/>
            <a:r>
              <a:rPr lang="en-US" sz="1350" dirty="0">
                <a:solidFill>
                  <a:srgbClr val="1B1F24"/>
                </a:solidFill>
              </a:rPr>
              <a:t>validates SeaTalk signature, forwards events to Apps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Repository Map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bots/&lt;bot-name&gt;/apps-script/Code.gs: Google Apps Script workflow per bot.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cmd/pdf-to-png-converter: Go HTTP service used by all bots.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internal/converter: shared PDF-to-PNG conversion using pdftoppm and ImageMagick.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cmd/seatalk-callback-proxy: optional Render service for signed SeaTalk callbacks.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docs/: setup guides and bot-specific notes.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BotLogs.gs: shared Apps Script helper for bot_logs sheet writes.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What A Bot Does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Loads Script Properties and defaults.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Opens the configured Google Spreadsheet.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Reads group IDs from GOOGLE_GROUP_IDS_RANGE.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Exports GOOGLE_CAPTURE_RANGE to PDF.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Calls PDF_TO_PNG_SERVICE_URL with a bearer token.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Builds a SeaTalk interactive card with title, description, image, and link.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Sends to each group and writes send history to bot_logs.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Step 1: Create The SeaTalk App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Create or reuse a SeaTalk app identity.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Copy SEATALK_APP_ID and SEATALK_APP_SECRET.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Add the bot to target SeaTalk group chats.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Store group IDs in the sheet, usually bot_config!A2:A.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Use a separate SeaTalk identity when the bot must appear as a different sender, such as MDT-SOC5.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Step 2: Prepare The Google Sheet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Create the report tab and the bot_config tab.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Choose the report capture range, for example intraday!C1:AD37.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Choose description ranges, for example intraday!AE2 for FMS Update.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Place target group IDs in GOOGLE_GROUP_IDS_RANGE.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Keep adjacent group names if you want readable bot_logs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Step 3: Create Apps Script Project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Create a new Apps Script project for the bot.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Paste the bot Code.gs from bots/&lt;bot-name&gt;/apps-script/.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Paste appsscript.json if the bot has one.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Add BotLogs.gs when send logging is required.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Run sendReportNow once to authorize Google and external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Script Properties To Set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SEATALK_APP_ID and SEATALK_APP_SECRET.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GOOGLE_SPREADSHEET_ID, GOOGLE_CAPTURE_RANGE, GOOGLE_GROUP_IDS_RANGE.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REPORT_TITLE_PREFIX, REPORT_SHEET_URL, and any description ranges.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PDF_TO_PNG_SERVICE_URL and PDF_TO_PNG_SERVICE_TOKEN.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REPORT_SEND_IMAGE=true, REPORT_INLINE_CARD_IMAGE=true, REPORT_REQUIRE_INLINE_CARD_IMAGE=true.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BOT_PDF_DPI, BOT_IMAGE_RESIZE_WIDTH, and BOT_IMAGE_BORDER_PX when tuning image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Step 4: Build The Bot Server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20000" y="1060000"/>
            <a:ext cx="11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500" dirty="0">
                <a:solidFill>
                  <a:srgbClr val="57606A"/>
                </a:solidFill>
              </a:rPr>
              <a:t>In this project, the shared bot server is the Azure PDF-to-PNG converter.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Go entrypoint: cmd/pdf-to-png-converter/main.go.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Endpoints: GET /healthz and POST /convert/pdf-to-png.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Auth: Authorization: Bearer &lt;PDF_TO_PNG_SERVICE_TOKEN&gt;.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Request: pdf_base64, dpi, resize_width, border_px.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Response: image_base64 for the SeaTalk card image.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Dockerfile builds the converter image for Azure Container Apps.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Azure Deployment Flow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Create Azure Resource Group and Azure Container Registry.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Add ACR_LOGIN_SERVER, ACR_USERNAME, and ACR_PASSWORD to GitHub Actions secrets.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Run the Build Converter Image workflow.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Create a Container Apps Environment and Container App.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Set PORT, WORK_DIR, PDF_TO_PNG_SERVICE_TOKEN, and SEATALK_MAX_BASE64_BYTES.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Enable HTTP ingress on target port 8080.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Copy the Application URL and configure Apps Script PDF_TO_PNG_SERVICE_URL.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Step 5: Install A Trigger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Intraday and OTP use hourly triggers near minute :00.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Workstation and Control Tower send every three hours.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MDT polls every five minutes and sends when the watch range changes.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Apps Script time triggers are approximate, so titles can round timestamps for consistency.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Run the bot's install trigger function once from the Apps Script editor.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Optional Callback Proxy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20000" y="1060000"/>
            <a:ext cx="11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500" dirty="0">
                <a:solidFill>
                  <a:srgbClr val="57606A"/>
                </a:solidFill>
              </a:rPr>
              <a:t>Use Render only when SeaTalk callback signature validation is required.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Apps Script can receive callbacks but cannot read inbound Signature headers.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Render receives SeaTalk events, validates Signature, and forwards the JSON body to Apps Script.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Render service uses Dockerfile.callback.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Main settings: SEATALK_CALLBACK_PATH, SEATALK_SIGNING_SECRET, APPS_SCRIPT_WEB_APP_URL.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Use the Render /bot-callback URL in the SeaTalk developer portal.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Testing Checklist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Open Azure /healthz and expect {"ok":true}.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Run testPdfToPngServiceHealth in Apps Script.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Run sendReportNow and check SeaTalk output.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Confirm image, title, description, and View Report Link button.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Check bot_logs rows after successful sends.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For callbacks, verify the Render /healthz endpoint and SeaTalk event_verification.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Troubleshooting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Unauthorized from converter: PDF_TO_PNG_SERVICE_TOKEN does not match.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SeaTalk code 7001: bot is not a member of that group chat.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Message sends without image: check REPORT_* image flags and converter URL.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Azure URL blank: confirm Container App ingress and target port 8080.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Image too large: lower DPI or resize width, or inspect SEATALK_MAX_BASE64_BYTES.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Callback verification fails: check Render logs and callback path.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333" cy="7500000"/>
          <a:chOff x="0" y="0"/>
          <a:chExt cx="13333333" cy="7500000"/>
        </a:xfrm>
      </p:grpSpPr>
      <p:sp>
        <p:nvSpPr>
          <p:cNvPr id="2" name="Text 2"/>
          <p:cNvSpPr txBox="1"/>
          <p:nvPr/>
        </p:nvSpPr>
        <p:spPr>
          <a:xfrm>
            <a:off x="610000" y="35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3300" dirty="0">
                <a:b/>
                <a:solidFill>
                  <a:srgbClr val="0B1320"/>
                </a:solidFill>
              </a:rPr>
              <a:t>Create A New Bot From This Repo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00000" y="1700000"/>
            <a:ext cx="114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Create a Google Sheet or new config range.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Create bots/&lt;bot-name&gt;/apps-script/.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Copy the closest existing Apps Script workflow and update defaults.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Set Script Properties for credentials, ranges, report link, and schedule.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Reuse the shared Azure converter URL and token.</a:t>
            </a:r>
          </a:p>
          <a:p>
            <a:pPr marL="0" indent="0"/>
            <a:r>
              <a:rPr lang="en-US" sz="1750" dirty="0">
                <a:solidFill>
                  <a:srgbClr val="24292F"/>
                </a:solidFill>
              </a:rPr>
              <a:t>- Run sendReportNow, install the trigger, then document the bot in docs/BOT_&lt;NAME&gt;.md.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5 Tutorial">
  <a:themeElements>
    <a:clrScheme name="SOC5">
      <a:dk1>
        <a:srgbClr val="0B1320"/>
      </a:dk1>
      <a:lt1>
        <a:srgbClr val="FFFFFF"/>
      </a:lt1>
      <a:dk2>
        <a:srgbClr val="24292F"/>
      </a:dk2>
      <a:lt2>
        <a:srgbClr val="F6F8FA"/>
      </a:lt2>
      <a:accent1>
        <a:srgbClr val="0969DA"/>
      </a:accent1>
      <a:accent2>
        <a:srgbClr val="1A7F37"/>
      </a:accent2>
      <a:accent3>
        <a:srgbClr val="9A6700"/>
      </a:accent3>
      <a:accent4>
        <a:srgbClr val="8250DF"/>
      </a:accent4>
      <a:accent5>
        <a:srgbClr val="CF222E"/>
      </a:accent5>
      <a:accent6>
        <a:srgbClr val="57606A"/>
      </a:accent6>
      <a:hlink>
        <a:srgbClr val="0969DA"/>
      </a:hlink>
      <a:folHlink>
        <a:srgbClr val="8250DF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OC5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